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7" r:id="rId3"/>
    <p:sldId id="262" r:id="rId4"/>
    <p:sldId id="264" r:id="rId5"/>
    <p:sldId id="276" r:id="rId6"/>
    <p:sldId id="267" r:id="rId7"/>
    <p:sldId id="268" r:id="rId8"/>
    <p:sldId id="270" r:id="rId9"/>
    <p:sldId id="271" r:id="rId10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Group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defPPr/>
            <a:lvl1pPr lvl="0" algn="ctr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defPPr/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Group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33" name="Shape 3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34" name="Shape 3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le and Subtitle">
    <p:spTree>
      <p:nvGrpSpPr>
        <p:cNvPr id="1" name="Group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lide Title">
    <p:spTree>
      <p:nvGrpSpPr>
        <p:cNvPr id="1" name="Group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itle and Two Columns">
    <p:spTree>
      <p:nvGrpSpPr>
        <p:cNvPr id="1" name="Group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65" name="Shape 6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Group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53" name="Shape 5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Group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2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7" cy="823911"/>
          </a:xfrm>
          <a:prstGeom prst="rect">
            <a:avLst/>
          </a:prstGeom>
        </p:spPr>
        <p:txBody>
          <a:bodyPr anchor="b"/>
          <a:lstStyle>
            <a:defPPr/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41" name="Shape 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7" cy="368458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, Text and Object">
    <p:spTree>
      <p:nvGrpSpPr>
        <p:cNvPr id="1" name="Group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Title and Picture">
    <p:spTree>
      <p:nvGrpSpPr>
        <p:cNvPr id="1" name="Group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defPPr/>
            <a:lvl1pPr lvl="0"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199" cy="4873625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defPPr/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t>Образец текста</a:t>
            </a:r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Group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Group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Образец заголовка</a:t>
            </a:r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22.07.2022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Group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t>Образец текста</a:t>
            </a:r>
          </a:p>
          <a:p>
            <a:pPr lvl="1"/>
            <a:r>
              <a:t>Второй уровень</a:t>
            </a:r>
          </a:p>
          <a:p>
            <a:pPr lvl="2"/>
            <a:r>
              <a:t>Третий уровень</a:t>
            </a:r>
          </a:p>
          <a:p>
            <a:pPr lvl="3"/>
            <a:r>
              <a:t>Четвертый уровень</a:t>
            </a:r>
          </a:p>
          <a:p>
            <a:pPr lvl="4"/>
            <a:r>
              <a:t>Пятый уровень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22.07.2022</a:t>
            </a:r>
          </a:p>
        </p:txBody>
      </p:sp>
      <p:sp>
        <p:nvSpPr>
          <p:cNvPr id="5" name="Shape 5"/>
          <p:cNvSpPr txBox="1"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/>
            <a:lvl1pPr marL="0" lvl="0" indent="0"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xStyles>
    <p:titleStyle>
      <a:defPPr/>
      <a:lvl1pPr lvl="0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marL="228600" lvl="0" indent="-228600" algn="l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lvl="1" indent="-228600" algn="l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3">
            <a:extLst>
              <a:ext uri="{FF2B5EF4-FFF2-40B4-BE49-F238E27FC236}">
                <a16:creationId xmlns:a16="http://schemas.microsoft.com/office/drawing/2014/main" id="{6D88F202-C18D-06DB-4215-267715D05D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23592" y="338821"/>
            <a:ext cx="7712915" cy="288072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ru-RU" sz="14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Название дисциплины, МДК</a:t>
            </a:r>
            <a:endParaRPr sz="14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hape 84">
            <a:extLst>
              <a:ext uri="{FF2B5EF4-FFF2-40B4-BE49-F238E27FC236}">
                <a16:creationId xmlns:a16="http://schemas.microsoft.com/office/drawing/2014/main" id="{A4D57298-294C-22E1-C3DA-2082F955C46A}"/>
              </a:ext>
            </a:extLst>
          </p:cNvPr>
          <p:cNvSpPr txBox="1"/>
          <p:nvPr/>
        </p:nvSpPr>
        <p:spPr>
          <a:xfrm>
            <a:off x="666750" y="1743307"/>
            <a:ext cx="11077575" cy="8002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/>
            <a:r>
              <a:rPr lang="ru-RU" sz="4600" b="1" dirty="0">
                <a:ln/>
                <a:latin typeface="Arial"/>
                <a:ea typeface="Arial"/>
                <a:cs typeface="Arial"/>
              </a:rPr>
              <a:t>Тема лекции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F22FEC-BF08-4A5B-8B0C-471A06C68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000"/>
            <a:ext cx="12192000" cy="812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09F815-3D3E-496F-91C9-AE467C194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152" y="181997"/>
            <a:ext cx="3599695" cy="13533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DB186-4F37-9527-5566-5D71464DFE34}"/>
              </a:ext>
            </a:extLst>
          </p:cNvPr>
          <p:cNvSpPr txBox="1"/>
          <p:nvPr/>
        </p:nvSpPr>
        <p:spPr>
          <a:xfrm>
            <a:off x="1917183" y="2563167"/>
            <a:ext cx="9552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 МОБИЛЬНОГО ПРИЛОЖЕНИЯ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FlerkthSound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DB700-8112-F42D-F943-F8F468F7CD04}"/>
              </a:ext>
            </a:extLst>
          </p:cNvPr>
          <p:cNvSpPr txBox="1"/>
          <p:nvPr/>
        </p:nvSpPr>
        <p:spPr>
          <a:xfrm>
            <a:off x="1955283" y="2937102"/>
            <a:ext cx="882422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Специальность 09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07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ru-RU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B5E72-C43D-B79A-07E3-EB79833137D0}"/>
              </a:ext>
            </a:extLst>
          </p:cNvPr>
          <p:cNvSpPr txBox="1"/>
          <p:nvPr/>
        </p:nvSpPr>
        <p:spPr>
          <a:xfrm>
            <a:off x="1955283" y="3196147"/>
            <a:ext cx="7695792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Дисциплина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«МДК.01.03. Разработка мобильных приложений».</a:t>
            </a:r>
            <a:endParaRPr lang="ru-RU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EF10A-C1B6-EDEB-34CD-25CF2F9C2B39}"/>
              </a:ext>
            </a:extLst>
          </p:cNvPr>
          <p:cNvSpPr txBox="1"/>
          <p:nvPr/>
        </p:nvSpPr>
        <p:spPr>
          <a:xfrm>
            <a:off x="0" y="6359693"/>
            <a:ext cx="710565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1578610" algn="l"/>
                <a:tab pos="3303905" algn="l"/>
                <a:tab pos="4730750" algn="l"/>
                <a:tab pos="6443345" algn="l"/>
              </a:tabLst>
            </a:pPr>
            <a:r>
              <a:rPr lang="ru-RU" sz="1800" b="1" kern="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Выполнила студентка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405ИС-22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Махмудова Аминат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2156DA-016A-7E8C-F70F-8A5927CAC53F}"/>
              </a:ext>
            </a:extLst>
          </p:cNvPr>
          <p:cNvSpPr txBox="1"/>
          <p:nvPr/>
        </p:nvSpPr>
        <p:spPr>
          <a:xfrm>
            <a:off x="7980049" y="6433525"/>
            <a:ext cx="4126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Проверил преподаватель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Кусков Ф.В.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098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5319" y="563888"/>
            <a:ext cx="7057781" cy="7057781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F931B8-0DE3-0136-6BD4-59BCE4575AB1}"/>
              </a:ext>
            </a:extLst>
          </p:cNvPr>
          <p:cNvSpPr txBox="1"/>
          <p:nvPr/>
        </p:nvSpPr>
        <p:spPr>
          <a:xfrm>
            <a:off x="4527671" y="-36098"/>
            <a:ext cx="70580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АКТУАЛЬНОСТЬ И ЦЕЛЬ ПРОЕКТА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2D16A-B417-904A-8614-B613D25AA730}"/>
              </a:ext>
            </a:extLst>
          </p:cNvPr>
          <p:cNvSpPr txBox="1"/>
          <p:nvPr/>
        </p:nvSpPr>
        <p:spPr>
          <a:xfrm>
            <a:off x="70338" y="3269800"/>
            <a:ext cx="121216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i="0" dirty="0">
                <a:effectLst/>
                <a:latin typeface="quote-cjk-patch"/>
              </a:rPr>
              <a:t>Цель проекта:</a:t>
            </a:r>
            <a:r>
              <a:rPr lang="ru-RU" b="0" i="0" dirty="0">
                <a:effectLst/>
                <a:latin typeface="quote-cjk-patch"/>
              </a:rPr>
              <a:t> </a:t>
            </a:r>
            <a:r>
              <a:rPr lang="ru-RU" dirty="0">
                <a:latin typeface="quote-cjk-patch"/>
              </a:rPr>
              <a:t>создать уникальную платформу, которая объединит музыкантов и любителей музыки в одном пространстве. Проект будет обеспечивать пользователям возможность не только слушать музыку, но и взаимодействовать друг с другом, делиться своими произведениями и находить единомышленников. Основная задача — создать сообщество, где каждый сможет найти поддержку и вдохновение</a:t>
            </a:r>
            <a:r>
              <a:rPr lang="ru-RU" dirty="0" smtClean="0">
                <a:latin typeface="quote-cjk-patch"/>
              </a:rPr>
              <a:t>.</a:t>
            </a:r>
            <a:endParaRPr lang="en-US" dirty="0" smtClean="0">
              <a:latin typeface="quote-cjk-patch"/>
            </a:endParaRPr>
          </a:p>
          <a:p>
            <a:pPr algn="just"/>
            <a:r>
              <a:rPr lang="ru-RU" b="1" i="0" dirty="0" smtClean="0">
                <a:effectLst/>
                <a:latin typeface="quote-cjk-patch"/>
              </a:rPr>
              <a:t>Задачи:</a:t>
            </a:r>
            <a:endParaRPr lang="en-US" b="1" i="0" dirty="0" smtClean="0">
              <a:effectLst/>
              <a:latin typeface="quote-cjk-patch"/>
            </a:endParaRPr>
          </a:p>
          <a:p>
            <a:pPr algn="just"/>
            <a:r>
              <a:rPr lang="en-US" altLang="ru-RU" b="1" dirty="0"/>
              <a:t>1. </a:t>
            </a:r>
            <a:r>
              <a:rPr lang="en-US" altLang="en-US" dirty="0"/>
              <a:t>Разработка</a:t>
            </a:r>
            <a:r>
              <a:rPr lang="en-US" altLang="ru-RU" dirty="0"/>
              <a:t> </a:t>
            </a:r>
            <a:r>
              <a:rPr lang="en-US" altLang="en-US" dirty="0"/>
              <a:t>интуитивно</a:t>
            </a:r>
            <a:r>
              <a:rPr lang="en-US" altLang="ru-RU" dirty="0"/>
              <a:t> </a:t>
            </a:r>
            <a:r>
              <a:rPr lang="en-US" altLang="en-US" dirty="0"/>
              <a:t>понятного</a:t>
            </a:r>
            <a:r>
              <a:rPr lang="en-US" altLang="ru-RU" dirty="0"/>
              <a:t> </a:t>
            </a:r>
            <a:r>
              <a:rPr lang="en-US" altLang="en-US" dirty="0"/>
              <a:t>интерфейса</a:t>
            </a:r>
            <a:r>
              <a:rPr lang="en-US" altLang="ru-RU" dirty="0"/>
              <a:t>, </a:t>
            </a:r>
            <a:r>
              <a:rPr lang="en-US" altLang="en-US" dirty="0"/>
              <a:t>который</a:t>
            </a:r>
            <a:r>
              <a:rPr lang="en-US" altLang="ru-RU" dirty="0"/>
              <a:t> </a:t>
            </a:r>
            <a:r>
              <a:rPr lang="en-US" altLang="en-US" dirty="0"/>
              <a:t>будет</a:t>
            </a:r>
            <a:r>
              <a:rPr lang="en-US" altLang="ru-RU" dirty="0"/>
              <a:t> </a:t>
            </a:r>
            <a:r>
              <a:rPr lang="en-US" altLang="en-US" dirty="0"/>
              <a:t>удобен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пользователей</a:t>
            </a:r>
            <a:r>
              <a:rPr lang="en-US" altLang="ru-RU" dirty="0"/>
              <a:t> </a:t>
            </a:r>
            <a:r>
              <a:rPr lang="en-US" altLang="en-US" dirty="0"/>
              <a:t>всех</a:t>
            </a:r>
            <a:r>
              <a:rPr lang="en-US" altLang="ru-RU" dirty="0"/>
              <a:t> </a:t>
            </a:r>
            <a:r>
              <a:rPr lang="en-US" altLang="en-US" dirty="0"/>
              <a:t>возрастов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уровней</a:t>
            </a:r>
            <a:r>
              <a:rPr lang="en-US" altLang="ru-RU" dirty="0"/>
              <a:t> </a:t>
            </a:r>
            <a:r>
              <a:rPr lang="en-US" altLang="en-US" dirty="0"/>
              <a:t>подготовки</a:t>
            </a:r>
            <a:r>
              <a:rPr lang="en-US" altLang="ru-RU" dirty="0"/>
              <a:t>.</a:t>
            </a:r>
          </a:p>
          <a:p>
            <a:pPr algn="just"/>
            <a:r>
              <a:rPr lang="en-US" altLang="ru-RU" b="1" dirty="0"/>
              <a:t>2.</a:t>
            </a:r>
            <a:r>
              <a:rPr lang="en-US" altLang="ru-RU" dirty="0"/>
              <a:t> </a:t>
            </a:r>
            <a:r>
              <a:rPr lang="en-US" altLang="en-US" dirty="0"/>
              <a:t>Внедрение</a:t>
            </a:r>
            <a:r>
              <a:rPr lang="en-US" altLang="ru-RU" dirty="0"/>
              <a:t> </a:t>
            </a:r>
            <a:r>
              <a:rPr lang="en-US" altLang="en-US" dirty="0"/>
              <a:t>функций</a:t>
            </a:r>
            <a:r>
              <a:rPr lang="en-US" altLang="ru-RU" dirty="0"/>
              <a:t> </a:t>
            </a:r>
            <a:r>
              <a:rPr lang="en-US" altLang="en-US" dirty="0"/>
              <a:t>загрузки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прослушивания</a:t>
            </a:r>
            <a:r>
              <a:rPr lang="en-US" altLang="ru-RU" dirty="0"/>
              <a:t> </a:t>
            </a:r>
            <a:r>
              <a:rPr lang="en-US" altLang="en-US" dirty="0"/>
              <a:t>музыки</a:t>
            </a:r>
            <a:r>
              <a:rPr lang="en-US" altLang="ru-RU" dirty="0"/>
              <a:t>, </a:t>
            </a:r>
            <a:r>
              <a:rPr lang="en-US" altLang="en-US" dirty="0"/>
              <a:t>чтобы</a:t>
            </a:r>
            <a:r>
              <a:rPr lang="en-US" altLang="ru-RU" dirty="0"/>
              <a:t> </a:t>
            </a:r>
            <a:r>
              <a:rPr lang="en-US" altLang="en-US" dirty="0"/>
              <a:t>пользователи</a:t>
            </a:r>
            <a:r>
              <a:rPr lang="en-US" altLang="ru-RU" dirty="0"/>
              <a:t> </a:t>
            </a:r>
            <a:r>
              <a:rPr lang="en-US" altLang="en-US" dirty="0"/>
              <a:t>могли</a:t>
            </a:r>
            <a:r>
              <a:rPr lang="en-US" altLang="ru-RU" dirty="0"/>
              <a:t> </a:t>
            </a:r>
            <a:r>
              <a:rPr lang="en-US" altLang="en-US" dirty="0"/>
              <a:t>делиться</a:t>
            </a:r>
            <a:r>
              <a:rPr lang="en-US" altLang="ru-RU" dirty="0"/>
              <a:t> </a:t>
            </a:r>
            <a:r>
              <a:rPr lang="en-US" altLang="en-US" dirty="0"/>
              <a:t>своими</a:t>
            </a:r>
            <a:r>
              <a:rPr lang="en-US" altLang="ru-RU" dirty="0"/>
              <a:t> </a:t>
            </a:r>
            <a:r>
              <a:rPr lang="en-US" altLang="en-US" dirty="0"/>
              <a:t>произведениями</a:t>
            </a:r>
            <a:r>
              <a:rPr lang="en-US" altLang="ru-RU" dirty="0"/>
              <a:t>.</a:t>
            </a:r>
          </a:p>
          <a:p>
            <a:pPr algn="just"/>
            <a:r>
              <a:rPr lang="en-US" altLang="ru-RU" b="1" dirty="0"/>
              <a:t>3.</a:t>
            </a:r>
            <a:r>
              <a:rPr lang="en-US" altLang="ru-RU" dirty="0"/>
              <a:t> </a:t>
            </a:r>
            <a:r>
              <a:rPr lang="en-US" altLang="en-US" dirty="0"/>
              <a:t>Создание</a:t>
            </a:r>
            <a:r>
              <a:rPr lang="en-US" altLang="ru-RU" dirty="0"/>
              <a:t> </a:t>
            </a:r>
            <a:r>
              <a:rPr lang="en-US" altLang="en-US" dirty="0"/>
              <a:t>системы</a:t>
            </a:r>
            <a:r>
              <a:rPr lang="en-US" altLang="ru-RU" dirty="0"/>
              <a:t> </a:t>
            </a:r>
            <a:r>
              <a:rPr lang="en-US" altLang="en-US" dirty="0"/>
              <a:t>рекомендаций</a:t>
            </a:r>
            <a:r>
              <a:rPr lang="en-US" altLang="ru-RU" dirty="0"/>
              <a:t>, </a:t>
            </a:r>
            <a:r>
              <a:rPr lang="en-US" altLang="en-US" dirty="0"/>
              <a:t>основанной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интересах</a:t>
            </a:r>
            <a:r>
              <a:rPr lang="en-US" altLang="ru-RU" dirty="0"/>
              <a:t> </a:t>
            </a:r>
            <a:r>
              <a:rPr lang="en-US" altLang="en-US" dirty="0"/>
              <a:t>пользователей</a:t>
            </a:r>
            <a:r>
              <a:rPr lang="en-US" altLang="ru-RU" dirty="0"/>
              <a:t>, </a:t>
            </a:r>
            <a:r>
              <a:rPr lang="en-US" altLang="en-US" dirty="0"/>
              <a:t>что</a:t>
            </a:r>
            <a:r>
              <a:rPr lang="en-US" altLang="ru-RU" dirty="0"/>
              <a:t> </a:t>
            </a:r>
            <a:r>
              <a:rPr lang="en-US" altLang="en-US" dirty="0"/>
              <a:t>позволит</a:t>
            </a:r>
            <a:r>
              <a:rPr lang="en-US" altLang="ru-RU" dirty="0"/>
              <a:t> </a:t>
            </a:r>
            <a:r>
              <a:rPr lang="en-US" altLang="en-US" dirty="0"/>
              <a:t>им</a:t>
            </a:r>
            <a:r>
              <a:rPr lang="en-US" altLang="ru-RU" dirty="0"/>
              <a:t> </a:t>
            </a:r>
            <a:r>
              <a:rPr lang="en-US" altLang="en-US" dirty="0"/>
              <a:t>открывать</a:t>
            </a:r>
            <a:r>
              <a:rPr lang="en-US" altLang="ru-RU" dirty="0"/>
              <a:t> </a:t>
            </a:r>
            <a:r>
              <a:rPr lang="en-US" altLang="en-US" dirty="0"/>
              <a:t>новую</a:t>
            </a:r>
            <a:r>
              <a:rPr lang="en-US" altLang="ru-RU" dirty="0"/>
              <a:t> </a:t>
            </a:r>
            <a:r>
              <a:rPr lang="en-US" altLang="en-US" dirty="0"/>
              <a:t>музыку</a:t>
            </a:r>
            <a:r>
              <a:rPr lang="en-US" altLang="ru-RU" dirty="0"/>
              <a:t>.</a:t>
            </a:r>
          </a:p>
          <a:p>
            <a:pPr algn="just"/>
            <a:r>
              <a:rPr lang="en-US" altLang="ru-RU" b="1" dirty="0"/>
              <a:t>4.</a:t>
            </a:r>
            <a:r>
              <a:rPr lang="en-US" altLang="ru-RU" dirty="0"/>
              <a:t> </a:t>
            </a:r>
            <a:r>
              <a:rPr lang="en-US" altLang="en-US" dirty="0"/>
              <a:t>Реализация</a:t>
            </a:r>
            <a:r>
              <a:rPr lang="en-US" altLang="ru-RU" dirty="0"/>
              <a:t> </a:t>
            </a:r>
            <a:r>
              <a:rPr lang="en-US" altLang="en-US" dirty="0"/>
              <a:t>функционала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создания</a:t>
            </a:r>
            <a:r>
              <a:rPr lang="en-US" altLang="ru-RU" dirty="0"/>
              <a:t> </a:t>
            </a:r>
            <a:r>
              <a:rPr lang="en-US" altLang="en-US" dirty="0"/>
              <a:t>плейлистов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обмена</a:t>
            </a:r>
            <a:r>
              <a:rPr lang="en-US" altLang="ru-RU" dirty="0"/>
              <a:t> </a:t>
            </a:r>
            <a:r>
              <a:rPr lang="en-US" altLang="en-US" dirty="0"/>
              <a:t>ими</a:t>
            </a:r>
            <a:r>
              <a:rPr lang="en-US" altLang="ru-RU" dirty="0"/>
              <a:t>, </a:t>
            </a:r>
            <a:r>
              <a:rPr lang="en-US" altLang="en-US" dirty="0"/>
              <a:t>что</a:t>
            </a:r>
            <a:r>
              <a:rPr lang="en-US" altLang="ru-RU" dirty="0"/>
              <a:t> </a:t>
            </a:r>
            <a:r>
              <a:rPr lang="en-US" altLang="en-US" dirty="0"/>
              <a:t>сделает</a:t>
            </a:r>
            <a:r>
              <a:rPr lang="en-US" altLang="ru-RU" dirty="0"/>
              <a:t> </a:t>
            </a:r>
            <a:r>
              <a:rPr lang="en-US" altLang="en-US" dirty="0"/>
              <a:t>платформу</a:t>
            </a:r>
            <a:r>
              <a:rPr lang="en-US" altLang="ru-RU" dirty="0"/>
              <a:t> </a:t>
            </a:r>
            <a:r>
              <a:rPr lang="en-US" altLang="en-US" dirty="0"/>
              <a:t>более</a:t>
            </a:r>
            <a:r>
              <a:rPr lang="en-US" altLang="ru-RU" dirty="0"/>
              <a:t> </a:t>
            </a:r>
            <a:r>
              <a:rPr lang="en-US" altLang="en-US" dirty="0"/>
              <a:t>интерактивной</a:t>
            </a:r>
            <a:r>
              <a:rPr lang="en-US" altLang="ru-RU" dirty="0"/>
              <a:t>.</a:t>
            </a:r>
          </a:p>
          <a:p>
            <a:pPr algn="just"/>
            <a:r>
              <a:rPr lang="en-US" altLang="ru-RU" b="1" dirty="0"/>
              <a:t>5.</a:t>
            </a:r>
            <a:r>
              <a:rPr lang="en-US" altLang="ru-RU" dirty="0"/>
              <a:t> </a:t>
            </a:r>
            <a:r>
              <a:rPr lang="en-US" altLang="en-US" dirty="0"/>
              <a:t>Поддержка</a:t>
            </a:r>
            <a:r>
              <a:rPr lang="en-US" altLang="ru-RU" dirty="0"/>
              <a:t> </a:t>
            </a:r>
            <a:r>
              <a:rPr lang="en-US" altLang="en-US" dirty="0"/>
              <a:t>взаимодействия</a:t>
            </a:r>
            <a:r>
              <a:rPr lang="en-US" altLang="ru-RU" dirty="0"/>
              <a:t> </a:t>
            </a:r>
            <a:r>
              <a:rPr lang="en-US" altLang="en-US" dirty="0"/>
              <a:t>через</a:t>
            </a:r>
            <a:r>
              <a:rPr lang="en-US" altLang="ru-RU" dirty="0"/>
              <a:t> </a:t>
            </a:r>
            <a:r>
              <a:rPr lang="en-US" altLang="en-US" dirty="0"/>
              <a:t>комментарии</a:t>
            </a:r>
            <a:r>
              <a:rPr lang="en-US" altLang="ru-RU" dirty="0"/>
              <a:t>, </a:t>
            </a:r>
            <a:r>
              <a:rPr lang="en-US" altLang="en-US" dirty="0"/>
              <a:t>лайки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личные</a:t>
            </a:r>
            <a:r>
              <a:rPr lang="en-US" altLang="ru-RU" dirty="0"/>
              <a:t> </a:t>
            </a:r>
            <a:r>
              <a:rPr lang="en-US" altLang="en-US" dirty="0"/>
              <a:t>сообщения</a:t>
            </a:r>
            <a:r>
              <a:rPr lang="en-US" altLang="ru-RU" dirty="0"/>
              <a:t>, </a:t>
            </a:r>
            <a:r>
              <a:rPr lang="en-US" altLang="en-US" dirty="0"/>
              <a:t>чтобы</a:t>
            </a:r>
            <a:r>
              <a:rPr lang="en-US" altLang="ru-RU" dirty="0"/>
              <a:t> </a:t>
            </a:r>
            <a:r>
              <a:rPr lang="en-US" altLang="en-US" dirty="0"/>
              <a:t>пользователи</a:t>
            </a:r>
            <a:r>
              <a:rPr lang="en-US" altLang="ru-RU" dirty="0"/>
              <a:t> </a:t>
            </a:r>
            <a:r>
              <a:rPr lang="en-US" altLang="en-US" dirty="0"/>
              <a:t>могли</a:t>
            </a:r>
            <a:r>
              <a:rPr lang="en-US" altLang="ru-RU" dirty="0"/>
              <a:t> </a:t>
            </a:r>
            <a:r>
              <a:rPr lang="en-US" altLang="en-US" dirty="0"/>
              <a:t>общаться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обмениваться</a:t>
            </a:r>
            <a:r>
              <a:rPr lang="en-US" altLang="ru-RU" dirty="0"/>
              <a:t> </a:t>
            </a:r>
            <a:r>
              <a:rPr lang="en-US" altLang="en-US" dirty="0"/>
              <a:t>мнениями</a:t>
            </a:r>
            <a:r>
              <a:rPr lang="en-US" altLang="ru-RU" dirty="0" smtClean="0"/>
              <a:t>.</a:t>
            </a:r>
            <a:endParaRPr lang="en-US" altLang="ru-RU" dirty="0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170" y="1152384"/>
            <a:ext cx="1891029" cy="189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401A7BFA-1136-1AC5-85D4-5F49D1F0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7000"/>
                    </a14:imgEffect>
                    <a14:imgEffect>
                      <a14:brightnessContrast contrast="-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0018" y="683794"/>
            <a:ext cx="3794965" cy="3326794"/>
          </a:xfrm>
          <a:prstGeom prst="rect">
            <a:avLst/>
          </a:prstGeom>
          <a:ln>
            <a:noFill/>
          </a:ln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600"/>
                    </a14:imgEffect>
                    <a14:imgEffect>
                      <a14:brightnessContrast bright="-21000" contrast="-7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0450" y="3076331"/>
            <a:ext cx="3943594" cy="394359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5BC62-5926-D279-5419-12016FCDF175}"/>
              </a:ext>
            </a:extLst>
          </p:cNvPr>
          <p:cNvSpPr txBox="1"/>
          <p:nvPr/>
        </p:nvSpPr>
        <p:spPr>
          <a:xfrm>
            <a:off x="5512753" y="0"/>
            <a:ext cx="53006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ТЕХНОЛОГИЧЕСКИЙ СТЕК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507B2-6367-59DB-6FEC-0E99E432498B}"/>
              </a:ext>
            </a:extLst>
          </p:cNvPr>
          <p:cNvSpPr txBox="1"/>
          <p:nvPr/>
        </p:nvSpPr>
        <p:spPr>
          <a:xfrm>
            <a:off x="242888" y="3429000"/>
            <a:ext cx="6096000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Основные технологии: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</a:t>
            </a:r>
            <a:r>
              <a:rPr lang="ru-RU" b="1" i="0" dirty="0">
                <a:effectLst/>
                <a:latin typeface="quote-cjk-patch"/>
              </a:rPr>
              <a:t>Язык программирования</a:t>
            </a:r>
            <a:r>
              <a:rPr lang="ru-RU" b="0" i="0" dirty="0">
                <a:effectLst/>
                <a:latin typeface="quote-cjk-patch"/>
              </a:rPr>
              <a:t>: </a:t>
            </a:r>
            <a:r>
              <a:rPr lang="ru-RU" b="0" i="0" dirty="0" err="1">
                <a:effectLst/>
                <a:latin typeface="quote-cjk-patch"/>
              </a:rPr>
              <a:t>Kotlin</a:t>
            </a:r>
            <a:r>
              <a:rPr lang="ru-RU" b="0" i="0" dirty="0">
                <a:effectLst/>
                <a:latin typeface="quote-cjk-patch"/>
              </a:rPr>
              <a:t> — современный, безопасный, официальный для </a:t>
            </a:r>
            <a:r>
              <a:rPr lang="ru-RU" b="0" i="0" dirty="0" err="1">
                <a:effectLst/>
                <a:latin typeface="quote-cjk-patch"/>
              </a:rPr>
              <a:t>Android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quote-cjk-patch"/>
              </a:rPr>
              <a:t> </a:t>
            </a:r>
            <a:r>
              <a:rPr lang="ru-RU" b="1" i="0" dirty="0" smtClean="0">
                <a:effectLst/>
                <a:latin typeface="quote-cjk-patch"/>
              </a:rPr>
              <a:t>Минимальная версия</a:t>
            </a:r>
            <a:r>
              <a:rPr lang="ru-RU" b="0" i="0" dirty="0" smtClean="0">
                <a:effectLst/>
                <a:latin typeface="quote-cjk-patch"/>
              </a:rPr>
              <a:t>: </a:t>
            </a:r>
            <a:r>
              <a:rPr lang="ru-RU" b="0" i="0" dirty="0" err="1" smtClean="0">
                <a:effectLst/>
                <a:latin typeface="quote-cjk-patch"/>
              </a:rPr>
              <a:t>Android</a:t>
            </a:r>
            <a:r>
              <a:rPr lang="ru-RU" b="0" i="0" dirty="0" smtClean="0">
                <a:effectLst/>
                <a:latin typeface="quote-cjk-patch"/>
              </a:rPr>
              <a:t> 7.0 — охватывает 95% устройств на рынке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 smtClean="0">
                <a:effectLst/>
                <a:latin typeface="quote-cjk-patch"/>
              </a:rPr>
              <a:t> </a:t>
            </a:r>
            <a:r>
              <a:rPr lang="ru-RU" b="1" i="0" dirty="0" smtClean="0">
                <a:effectLst/>
                <a:latin typeface="quote-cjk-patch"/>
              </a:rPr>
              <a:t>База данных</a:t>
            </a:r>
            <a:r>
              <a:rPr lang="ru-RU" b="0" i="0" dirty="0" smtClean="0">
                <a:effectLst/>
                <a:latin typeface="quote-cjk-patch"/>
              </a:rPr>
              <a:t>: </a:t>
            </a:r>
            <a:r>
              <a:rPr lang="en-US" dirty="0" smtClean="0">
                <a:latin typeface="quote-cjk-patch"/>
              </a:rPr>
              <a:t>MySQL</a:t>
            </a:r>
            <a:r>
              <a:rPr lang="ru-RU" b="0" i="0" dirty="0" smtClean="0">
                <a:effectLst/>
                <a:latin typeface="quote-cjk-patch"/>
              </a:rPr>
              <a:t> — Мощная, дает </a:t>
            </a:r>
            <a:r>
              <a:rPr lang="ru-RU" b="0" i="0" dirty="0" err="1" smtClean="0">
                <a:effectLst/>
                <a:latin typeface="quote-cjk-patch"/>
              </a:rPr>
              <a:t>возмодность</a:t>
            </a:r>
            <a:r>
              <a:rPr lang="ru-RU" b="0" i="0" dirty="0" smtClean="0">
                <a:effectLst/>
                <a:latin typeface="quote-cjk-patch"/>
              </a:rPr>
              <a:t> синхронизировать данные на нескольких устройствах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i="0" dirty="0" smtClean="0">
                <a:effectLst/>
                <a:latin typeface="quote-cjk-patch"/>
              </a:rPr>
              <a:t>UI</a:t>
            </a:r>
            <a:r>
              <a:rPr lang="ru-RU" b="0" i="0" dirty="0">
                <a:effectLst/>
                <a:latin typeface="quote-cjk-patch"/>
              </a:rPr>
              <a:t>: </a:t>
            </a:r>
            <a:r>
              <a:rPr lang="ru-RU" b="0" i="0" dirty="0" err="1">
                <a:effectLst/>
                <a:latin typeface="quote-cjk-patch"/>
              </a:rPr>
              <a:t>Material</a:t>
            </a:r>
            <a:r>
              <a:rPr lang="ru-RU" b="0" i="0" dirty="0">
                <a:effectLst/>
                <a:latin typeface="quote-cjk-patch"/>
              </a:rPr>
              <a:t> Design 3 — современный дизайн от Google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6D7B2-DCFE-6A8E-F06E-6600CA2CF6C3}"/>
              </a:ext>
            </a:extLst>
          </p:cNvPr>
          <p:cNvSpPr txBox="1"/>
          <p:nvPr/>
        </p:nvSpPr>
        <p:spPr>
          <a:xfrm>
            <a:off x="6286499" y="1059887"/>
            <a:ext cx="5848351" cy="250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Ключевые библиотеки: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</a:t>
            </a:r>
            <a:r>
              <a:rPr lang="ru-RU" b="1" i="0" dirty="0" err="1">
                <a:effectLst/>
                <a:latin typeface="quote-cjk-patch"/>
              </a:rPr>
              <a:t>Glide</a:t>
            </a:r>
            <a:r>
              <a:rPr lang="ru-RU" b="0" i="0" dirty="0">
                <a:effectLst/>
                <a:latin typeface="quote-cjk-patch"/>
              </a:rPr>
              <a:t> — для эффективной загрузки изображений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quote-cjk-patch"/>
              </a:rPr>
              <a:t> </a:t>
            </a:r>
            <a:r>
              <a:rPr lang="ru-RU" b="1" i="0" dirty="0" err="1">
                <a:effectLst/>
                <a:latin typeface="quote-cjk-patch"/>
              </a:rPr>
              <a:t>Gson</a:t>
            </a:r>
            <a:r>
              <a:rPr lang="ru-RU" b="0" i="0" dirty="0">
                <a:effectLst/>
                <a:latin typeface="quote-cjk-patch"/>
              </a:rPr>
              <a:t> — для работы с JSON-данными </a:t>
            </a:r>
            <a:endParaRPr lang="ru-RU" dirty="0">
              <a:latin typeface="quote-cjk-patch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dirty="0" smtClean="0"/>
              <a:t> </a:t>
            </a:r>
            <a:r>
              <a:rPr lang="en-US" b="1" dirty="0" smtClean="0"/>
              <a:t>MySQL</a:t>
            </a:r>
            <a:r>
              <a:rPr lang="en-US" dirty="0"/>
              <a:t> </a:t>
            </a:r>
            <a:r>
              <a:rPr lang="ru-RU" dirty="0">
                <a:latin typeface="quote-cjk-patch"/>
              </a:rPr>
              <a:t> </a:t>
            </a:r>
            <a:r>
              <a:rPr lang="ru-RU" dirty="0" smtClean="0">
                <a:latin typeface="quote-cjk-patch"/>
              </a:rPr>
              <a:t>— БД для работы с данными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quote-cjk-patch"/>
              </a:rPr>
              <a:t> </a:t>
            </a:r>
            <a:r>
              <a:rPr lang="en-US" b="1" dirty="0" err="1" smtClean="0"/>
              <a:t>Multer</a:t>
            </a:r>
            <a:r>
              <a:rPr lang="ru-RU" b="1" dirty="0" smtClean="0"/>
              <a:t> </a:t>
            </a:r>
            <a:r>
              <a:rPr lang="ru-RU" dirty="0">
                <a:latin typeface="quote-cjk-patch"/>
              </a:rPr>
              <a:t>—</a:t>
            </a:r>
            <a:r>
              <a:rPr lang="ru-RU" b="1" dirty="0" smtClean="0"/>
              <a:t> </a:t>
            </a:r>
            <a:r>
              <a:rPr lang="ru-RU" dirty="0" smtClean="0"/>
              <a:t>загрузка файлов в БД через приложение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quote-cjk-patch"/>
              </a:rPr>
              <a:t> </a:t>
            </a:r>
            <a:r>
              <a:rPr lang="en-US" b="1" dirty="0"/>
              <a:t>REST </a:t>
            </a:r>
            <a:r>
              <a:rPr lang="en-US" b="1" dirty="0" smtClean="0"/>
              <a:t>API</a:t>
            </a:r>
            <a:r>
              <a:rPr lang="ru-RU" b="1" dirty="0" smtClean="0"/>
              <a:t> </a:t>
            </a:r>
            <a:r>
              <a:rPr lang="ru-RU" dirty="0">
                <a:latin typeface="quote-cjk-patch"/>
              </a:rPr>
              <a:t>—</a:t>
            </a:r>
            <a:r>
              <a:rPr lang="ru-RU" b="1" dirty="0" smtClean="0"/>
              <a:t> </a:t>
            </a:r>
            <a:r>
              <a:rPr lang="ru-RU" dirty="0" smtClean="0"/>
              <a:t>архитектура эндпоинтов</a:t>
            </a: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b="1" dirty="0" err="1"/>
              <a:t>bcryptjs</a:t>
            </a:r>
            <a:r>
              <a:rPr lang="en-US" dirty="0"/>
              <a:t> </a:t>
            </a:r>
            <a:r>
              <a:rPr lang="ru-RU" dirty="0">
                <a:latin typeface="quote-cjk-patch"/>
              </a:rPr>
              <a:t> —</a:t>
            </a:r>
            <a:r>
              <a:rPr lang="en-US" dirty="0" smtClean="0"/>
              <a:t> </a:t>
            </a:r>
            <a:r>
              <a:rPr lang="ru-RU" dirty="0"/>
              <a:t>хеширование паролей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830208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03C6DB8C-25C2-55FA-C887-B5BF6AB4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4" y="4241588"/>
            <a:ext cx="2424115" cy="242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7973" y="2757524"/>
            <a:ext cx="2460379" cy="2460379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02F6B9-B739-AF9B-42CA-917E64EBC42D}"/>
              </a:ext>
            </a:extLst>
          </p:cNvPr>
          <p:cNvSpPr txBox="1"/>
          <p:nvPr/>
        </p:nvSpPr>
        <p:spPr>
          <a:xfrm>
            <a:off x="5479776" y="-32340"/>
            <a:ext cx="56435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СТРУКТУРА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925E7-12A7-C607-83C3-58804268874E}"/>
              </a:ext>
            </a:extLst>
          </p:cNvPr>
          <p:cNvSpPr txBox="1"/>
          <p:nvPr/>
        </p:nvSpPr>
        <p:spPr>
          <a:xfrm>
            <a:off x="-34928" y="978896"/>
            <a:ext cx="566102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1. </a:t>
            </a:r>
            <a:r>
              <a:rPr lang="ru-RU" sz="1400" b="1" dirty="0" err="1"/>
              <a:t>users</a:t>
            </a:r>
            <a:r>
              <a:rPr lang="ru-RU" sz="1400" b="1" dirty="0"/>
              <a:t> — пользователи с ролями GUEST/USER/MODERATOR/ADMIN</a:t>
            </a:r>
          </a:p>
          <a:p>
            <a:r>
              <a:rPr lang="ru-RU" sz="1400" dirty="0"/>
              <a:t>4 уровня доступа с разграничением прав </a:t>
            </a:r>
          </a:p>
          <a:p>
            <a:r>
              <a:rPr lang="ru-RU" sz="1400" dirty="0"/>
              <a:t>Хеширование паролей </a:t>
            </a:r>
            <a:r>
              <a:rPr lang="ru-RU" sz="1400" dirty="0" err="1"/>
              <a:t>Bcrypt</a:t>
            </a:r>
            <a:r>
              <a:rPr lang="ru-RU" sz="1400" dirty="0"/>
              <a:t> для безопасности ($2b$ в </a:t>
            </a:r>
            <a:r>
              <a:rPr lang="ru-RU" sz="1400" dirty="0" err="1"/>
              <a:t>демо</a:t>
            </a:r>
            <a:r>
              <a:rPr lang="ru-RU" sz="1400" dirty="0"/>
              <a:t>-данных</a:t>
            </a:r>
            <a:r>
              <a:rPr lang="ru-RU" sz="1400" dirty="0" smtClean="0"/>
              <a:t>)</a:t>
            </a:r>
            <a:endParaRPr lang="ru-RU" sz="1400" dirty="0"/>
          </a:p>
          <a:p>
            <a:r>
              <a:rPr lang="ru-RU" sz="1400" dirty="0"/>
              <a:t>Поддержка </a:t>
            </a:r>
            <a:r>
              <a:rPr lang="ru-RU" sz="1400" dirty="0" err="1"/>
              <a:t>аватара</a:t>
            </a:r>
            <a:r>
              <a:rPr lang="ru-RU" sz="1400" dirty="0"/>
              <a:t> профиля (</a:t>
            </a:r>
            <a:r>
              <a:rPr lang="ru-RU" sz="1400" dirty="0" err="1"/>
              <a:t>avatar_url</a:t>
            </a:r>
            <a:r>
              <a:rPr lang="ru-RU" sz="1400" dirty="0"/>
              <a:t>), биографии (</a:t>
            </a:r>
            <a:r>
              <a:rPr lang="ru-RU" sz="1400" dirty="0" err="1"/>
              <a:t>bio</a:t>
            </a:r>
            <a:r>
              <a:rPr lang="ru-RU" sz="1400" dirty="0"/>
              <a:t>) и </a:t>
            </a:r>
            <a:r>
              <a:rPr lang="ru-RU" sz="1400" dirty="0" smtClean="0"/>
              <a:t>верификации</a:t>
            </a:r>
            <a:endParaRPr lang="ru-RU" sz="1400" dirty="0"/>
          </a:p>
          <a:p>
            <a:r>
              <a:rPr lang="ru-RU" sz="1400" dirty="0"/>
              <a:t>Система блокировки пользователей с указанием причины и </a:t>
            </a:r>
            <a:r>
              <a:rPr lang="ru-RU" sz="1400" dirty="0" smtClean="0"/>
              <a:t>срока</a:t>
            </a:r>
            <a:endParaRPr lang="ru-RU" sz="1400" dirty="0"/>
          </a:p>
          <a:p>
            <a:r>
              <a:rPr lang="ru-RU" sz="1400" dirty="0"/>
              <a:t>Автоматический подсчет подписчиков/подписок через триггеры</a:t>
            </a:r>
            <a:endParaRPr lang="ru-RU" sz="1400" i="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9F806E-F90E-B547-CD9C-30872FFAAC01}"/>
              </a:ext>
            </a:extLst>
          </p:cNvPr>
          <p:cNvSpPr txBox="1"/>
          <p:nvPr/>
        </p:nvSpPr>
        <p:spPr>
          <a:xfrm>
            <a:off x="-34928" y="2634091"/>
            <a:ext cx="539536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2. </a:t>
            </a:r>
            <a:r>
              <a:rPr lang="ru-RU" sz="1400" b="1" dirty="0" err="1"/>
              <a:t>tracks</a:t>
            </a:r>
            <a:r>
              <a:rPr lang="ru-RU" sz="1400" b="1" dirty="0"/>
              <a:t> — музыкальные треки с метаданными</a:t>
            </a:r>
          </a:p>
          <a:p>
            <a:r>
              <a:rPr lang="ru-RU" sz="1400" dirty="0"/>
              <a:t>3 основных поля для классификации: жанр, описание, длительность</a:t>
            </a:r>
          </a:p>
          <a:p>
            <a:r>
              <a:rPr lang="ru-RU" sz="1400" dirty="0"/>
              <a:t>Мультимедийные ссылки: аудиофайл (audio_file_url) и обложка (cover_art_url)</a:t>
            </a:r>
          </a:p>
          <a:p>
            <a:r>
              <a:rPr lang="ru-RU" sz="1400" dirty="0"/>
              <a:t>4 счетчика взаимодействий: прослушивания, лайки, комментарии (автообновляемые)</a:t>
            </a:r>
          </a:p>
          <a:p>
            <a:r>
              <a:rPr lang="ru-RU" sz="1400" dirty="0"/>
              <a:t>Система приватности: публичные/приватные треки (</a:t>
            </a:r>
            <a:r>
              <a:rPr lang="ru-RU" sz="1400" dirty="0" err="1"/>
              <a:t>is_public</a:t>
            </a:r>
            <a:r>
              <a:rPr lang="ru-RU" sz="1200" dirty="0" smtClean="0"/>
              <a:t>)</a:t>
            </a:r>
            <a:endParaRPr lang="ru-RU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423941" y="978896"/>
            <a:ext cx="808904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3. playlists → </a:t>
            </a:r>
            <a:r>
              <a:rPr lang="en-US" sz="1400" b="1" dirty="0" err="1"/>
              <a:t>playlist_tracks</a:t>
            </a:r>
            <a:r>
              <a:rPr lang="en-US" sz="1400" b="1" dirty="0"/>
              <a:t> — </a:t>
            </a:r>
            <a:r>
              <a:rPr lang="ru-RU" sz="1400" b="1" dirty="0"/>
              <a:t>система музыкальных коллекций</a:t>
            </a:r>
          </a:p>
          <a:p>
            <a:r>
              <a:rPr lang="ru-RU" sz="1400" dirty="0"/>
              <a:t>Иерархическая структура: </a:t>
            </a:r>
            <a:r>
              <a:rPr lang="ru-RU" sz="1400" dirty="0" err="1"/>
              <a:t>плейлист</a:t>
            </a:r>
            <a:r>
              <a:rPr lang="ru-RU" sz="1400" dirty="0"/>
              <a:t> содержит треки через связующую таблицу</a:t>
            </a:r>
          </a:p>
          <a:p>
            <a:r>
              <a:rPr lang="ru-RU" sz="1400" dirty="0"/>
              <a:t>Настраиваемый порядок треков (</a:t>
            </a:r>
            <a:r>
              <a:rPr lang="en-US" sz="1400" dirty="0"/>
              <a:t>position) </a:t>
            </a:r>
            <a:r>
              <a:rPr lang="ru-RU" sz="1400" dirty="0"/>
              <a:t>в </a:t>
            </a:r>
            <a:r>
              <a:rPr lang="ru-RU" sz="1400" dirty="0" err="1"/>
              <a:t>плейлистах</a:t>
            </a:r>
            <a:endParaRPr lang="ru-RU" sz="1400" dirty="0"/>
          </a:p>
          <a:p>
            <a:r>
              <a:rPr lang="ru-RU" sz="1400" dirty="0"/>
              <a:t>Поддержка обложек </a:t>
            </a:r>
            <a:r>
              <a:rPr lang="ru-RU" sz="1400" dirty="0" err="1"/>
              <a:t>плейлистов</a:t>
            </a:r>
            <a:r>
              <a:rPr lang="ru-RU" sz="1400" dirty="0"/>
              <a:t> и публичного/приватного доступа</a:t>
            </a:r>
          </a:p>
          <a:p>
            <a:r>
              <a:rPr lang="ru-RU" sz="1400" dirty="0"/>
              <a:t>Автоматический подсчет количества треков через триггеры</a:t>
            </a:r>
          </a:p>
          <a:p>
            <a:r>
              <a:rPr lang="ru-RU" sz="1400" b="1" dirty="0"/>
              <a:t>4. </a:t>
            </a:r>
            <a:r>
              <a:rPr lang="en-US" sz="1400" b="1" dirty="0"/>
              <a:t>likes / comments / follows — </a:t>
            </a:r>
            <a:r>
              <a:rPr lang="ru-RU" sz="1400" b="1" dirty="0"/>
              <a:t>система социальных взаимодействий</a:t>
            </a:r>
          </a:p>
          <a:p>
            <a:r>
              <a:rPr lang="en-US" sz="1400" b="1" dirty="0"/>
              <a:t>likes</a:t>
            </a:r>
            <a:r>
              <a:rPr lang="en-US" sz="1400" dirty="0"/>
              <a:t> — </a:t>
            </a:r>
            <a:r>
              <a:rPr lang="ru-RU" sz="1400" dirty="0"/>
              <a:t>лайки треков с уникальным ограничением (</a:t>
            </a:r>
            <a:r>
              <a:rPr lang="en-US" sz="1400" dirty="0" err="1"/>
              <a:t>user_id</a:t>
            </a:r>
            <a:r>
              <a:rPr lang="en-US" sz="1400" dirty="0"/>
              <a:t> + </a:t>
            </a:r>
            <a:r>
              <a:rPr lang="en-US" sz="1400" dirty="0" err="1"/>
              <a:t>track_id</a:t>
            </a:r>
            <a:r>
              <a:rPr lang="en-US" sz="1400" dirty="0"/>
              <a:t>)</a:t>
            </a:r>
          </a:p>
          <a:p>
            <a:r>
              <a:rPr lang="en-US" sz="1400" b="1" dirty="0"/>
              <a:t>comments</a:t>
            </a:r>
            <a:r>
              <a:rPr lang="en-US" sz="1400" dirty="0"/>
              <a:t> — </a:t>
            </a:r>
            <a:r>
              <a:rPr lang="ru-RU" sz="1400" dirty="0"/>
              <a:t>комментирование треков с текстовым содержимым</a:t>
            </a:r>
          </a:p>
          <a:p>
            <a:r>
              <a:rPr lang="en-US" sz="1400" b="1" dirty="0"/>
              <a:t>follows</a:t>
            </a:r>
            <a:r>
              <a:rPr lang="en-US" sz="1400" dirty="0"/>
              <a:t> — </a:t>
            </a:r>
            <a:r>
              <a:rPr lang="ru-RU" sz="1400" dirty="0"/>
              <a:t>подписки между пользователями (</a:t>
            </a:r>
            <a:r>
              <a:rPr lang="ru-RU" sz="1400" dirty="0" err="1"/>
              <a:t>самореферентная</a:t>
            </a:r>
            <a:r>
              <a:rPr lang="ru-RU" sz="1400" dirty="0"/>
              <a:t> связь)</a:t>
            </a:r>
          </a:p>
          <a:p>
            <a:r>
              <a:rPr lang="ru-RU" sz="1400" dirty="0"/>
              <a:t>Все счетчики обновляются автоматически через триггеры</a:t>
            </a:r>
          </a:p>
          <a:p>
            <a:r>
              <a:rPr lang="ru-RU" sz="1400" b="1" dirty="0"/>
              <a:t>5. </a:t>
            </a:r>
            <a:r>
              <a:rPr lang="en-US" sz="1400" b="1" dirty="0" err="1"/>
              <a:t>groups_table</a:t>
            </a:r>
            <a:r>
              <a:rPr lang="en-US" sz="1400" b="1" dirty="0"/>
              <a:t> → </a:t>
            </a:r>
            <a:r>
              <a:rPr lang="en-US" sz="1400" b="1" dirty="0" err="1"/>
              <a:t>group_members</a:t>
            </a:r>
            <a:r>
              <a:rPr lang="en-US" sz="1400" b="1" dirty="0"/>
              <a:t> → </a:t>
            </a:r>
            <a:r>
              <a:rPr lang="en-US" sz="1400" b="1" dirty="0" err="1"/>
              <a:t>group_posts</a:t>
            </a:r>
            <a:r>
              <a:rPr lang="en-US" sz="1400" b="1" dirty="0"/>
              <a:t> — </a:t>
            </a:r>
            <a:r>
              <a:rPr lang="ru-RU" sz="1400" b="1" dirty="0"/>
              <a:t>система групп</a:t>
            </a:r>
          </a:p>
          <a:p>
            <a:r>
              <a:rPr lang="ru-RU" sz="1400" dirty="0"/>
              <a:t>Трехуровневая структура: группа → участники → посты</a:t>
            </a:r>
          </a:p>
          <a:p>
            <a:r>
              <a:rPr lang="ru-RU" sz="1400" dirty="0"/>
              <a:t>Роли в группах: </a:t>
            </a:r>
            <a:r>
              <a:rPr lang="en-US" sz="1400" dirty="0"/>
              <a:t>OWNER/ADMIN/MEMBER </a:t>
            </a:r>
            <a:r>
              <a:rPr lang="ru-RU" sz="1400" dirty="0"/>
              <a:t>с разными правами</a:t>
            </a:r>
          </a:p>
          <a:p>
            <a:r>
              <a:rPr lang="ru-RU" sz="1400" dirty="0"/>
              <a:t>Мультимедийные посты с типами: </a:t>
            </a:r>
            <a:r>
              <a:rPr lang="en-US" sz="1400" dirty="0"/>
              <a:t>IMAGE/AUDIO/FILE</a:t>
            </a:r>
          </a:p>
          <a:p>
            <a:r>
              <a:rPr lang="ru-RU" sz="1400" dirty="0"/>
              <a:t>Система блокировки групп и постов для </a:t>
            </a:r>
            <a:r>
              <a:rPr lang="ru-RU" sz="1400" dirty="0" err="1"/>
              <a:t>модерации</a:t>
            </a:r>
            <a:endParaRPr lang="ru-RU" sz="1400" dirty="0"/>
          </a:p>
          <a:p>
            <a:r>
              <a:rPr lang="ru-RU" sz="1400" b="1" dirty="0"/>
              <a:t>6. </a:t>
            </a:r>
            <a:r>
              <a:rPr lang="en-US" sz="1400" b="1" dirty="0"/>
              <a:t>chats → </a:t>
            </a:r>
            <a:r>
              <a:rPr lang="en-US" sz="1400" b="1" dirty="0" err="1"/>
              <a:t>chat_members</a:t>
            </a:r>
            <a:r>
              <a:rPr lang="en-US" sz="1400" b="1" dirty="0"/>
              <a:t> → </a:t>
            </a:r>
            <a:r>
              <a:rPr lang="en-US" sz="1400" b="1" dirty="0" err="1"/>
              <a:t>chat_messages</a:t>
            </a:r>
            <a:r>
              <a:rPr lang="en-US" sz="1400" b="1" dirty="0"/>
              <a:t> — </a:t>
            </a:r>
            <a:r>
              <a:rPr lang="ru-RU" sz="1400" b="1" dirty="0"/>
              <a:t>система чатов</a:t>
            </a:r>
          </a:p>
          <a:p>
            <a:r>
              <a:rPr lang="ru-RU" sz="1400" dirty="0"/>
              <a:t>2 типа чатов: </a:t>
            </a:r>
            <a:r>
              <a:rPr lang="en-US" sz="1400" dirty="0"/>
              <a:t>private (</a:t>
            </a:r>
            <a:r>
              <a:rPr lang="ru-RU" sz="1400" dirty="0"/>
              <a:t>личные) и </a:t>
            </a:r>
            <a:r>
              <a:rPr lang="en-US" sz="1400" dirty="0"/>
              <a:t>group (</a:t>
            </a:r>
            <a:r>
              <a:rPr lang="ru-RU" sz="1400" dirty="0"/>
              <a:t>групповые)</a:t>
            </a:r>
          </a:p>
          <a:p>
            <a:r>
              <a:rPr lang="ru-RU" sz="1400" dirty="0"/>
              <a:t>Иерархия: чат → участники → сообщения</a:t>
            </a:r>
          </a:p>
          <a:p>
            <a:r>
              <a:rPr lang="ru-RU" sz="1400" dirty="0"/>
              <a:t>Сообщения 4 типов: </a:t>
            </a:r>
            <a:r>
              <a:rPr lang="en-US" sz="1400" dirty="0"/>
              <a:t>text, image, audio, track (</a:t>
            </a:r>
            <a:r>
              <a:rPr lang="ru-RU" sz="1400" dirty="0"/>
              <a:t>с привязкой к трекам)</a:t>
            </a:r>
          </a:p>
          <a:p>
            <a:r>
              <a:rPr lang="ru-RU" sz="1400" dirty="0"/>
              <a:t>Отслеживание прочитанных сообщений (</a:t>
            </a:r>
            <a:r>
              <a:rPr lang="en-US" sz="1400" dirty="0" err="1"/>
              <a:t>is_read</a:t>
            </a:r>
            <a:r>
              <a:rPr lang="en-US" sz="1400" dirty="0"/>
              <a:t>, </a:t>
            </a:r>
            <a:r>
              <a:rPr lang="en-US" sz="1400" dirty="0" err="1"/>
              <a:t>last_read_at</a:t>
            </a:r>
            <a:r>
              <a:rPr lang="en-US" sz="1400" dirty="0"/>
              <a:t>)</a:t>
            </a:r>
          </a:p>
          <a:p>
            <a:r>
              <a:rPr lang="en-US" sz="1400" b="1" dirty="0"/>
              <a:t>7. notifications / </a:t>
            </a:r>
            <a:r>
              <a:rPr lang="en-US" sz="1400" b="1" dirty="0" err="1"/>
              <a:t>admin_notifications_history</a:t>
            </a:r>
            <a:r>
              <a:rPr lang="en-US" sz="1400" b="1" dirty="0"/>
              <a:t> — </a:t>
            </a:r>
            <a:r>
              <a:rPr lang="ru-RU" sz="1400" b="1" dirty="0"/>
              <a:t>система уведомлений</a:t>
            </a:r>
          </a:p>
          <a:p>
            <a:r>
              <a:rPr lang="en-US" sz="1400" b="1" dirty="0"/>
              <a:t>notifications</a:t>
            </a:r>
            <a:r>
              <a:rPr lang="en-US" sz="1400" dirty="0"/>
              <a:t> — </a:t>
            </a:r>
            <a:r>
              <a:rPr lang="ru-RU" sz="1400" dirty="0"/>
              <a:t>персонализированные уведомления для пользователей</a:t>
            </a:r>
          </a:p>
          <a:p>
            <a:r>
              <a:rPr lang="ru-RU" sz="1400" dirty="0"/>
              <a:t>Типы уведомлений: </a:t>
            </a:r>
            <a:r>
              <a:rPr lang="en-US" sz="1400" dirty="0"/>
              <a:t>follow, like, comment, admin </a:t>
            </a:r>
            <a:r>
              <a:rPr lang="ru-RU" sz="1400" dirty="0"/>
              <a:t>и другие</a:t>
            </a:r>
          </a:p>
          <a:p>
            <a:r>
              <a:rPr lang="ru-RU" sz="1400" dirty="0"/>
              <a:t>Привязка к связанным сущностям: пользователям, трекам</a:t>
            </a:r>
          </a:p>
          <a:p>
            <a:r>
              <a:rPr lang="en-US" sz="1400" b="1" dirty="0" err="1"/>
              <a:t>admin_notifications_history</a:t>
            </a:r>
            <a:r>
              <a:rPr lang="en-US" sz="1400" dirty="0"/>
              <a:t> — </a:t>
            </a:r>
            <a:r>
              <a:rPr lang="ru-RU" sz="1400" dirty="0"/>
              <a:t>история массовых рассылок от </a:t>
            </a:r>
            <a:r>
              <a:rPr lang="ru-RU" sz="1400" dirty="0" smtClean="0"/>
              <a:t>администраторов</a:t>
            </a:r>
            <a:endParaRPr lang="ru-RU" sz="1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082133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87435FC4-87F7-930B-406D-31866BD0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77820" y="0"/>
            <a:ext cx="1114180" cy="1114180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079F43-CBBA-D496-6472-141F0689E8D3}"/>
              </a:ext>
            </a:extLst>
          </p:cNvPr>
          <p:cNvSpPr txBox="1"/>
          <p:nvPr/>
        </p:nvSpPr>
        <p:spPr>
          <a:xfrm>
            <a:off x="5505449" y="-95250"/>
            <a:ext cx="56435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СТРУКТУРА БАЗЫ ДАННЫХ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2" y="2445077"/>
            <a:ext cx="12138168" cy="409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11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B73DD6EC-29D7-A3D4-2A92-BF187061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DA2F7E-8535-D412-DAE0-D4AF4B4DEA22}"/>
              </a:ext>
            </a:extLst>
          </p:cNvPr>
          <p:cNvSpPr txBox="1"/>
          <p:nvPr/>
        </p:nvSpPr>
        <p:spPr>
          <a:xfrm>
            <a:off x="3384548" y="-32340"/>
            <a:ext cx="89535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ТЕХНИЧЕСКИЕ ОСОБЕННОСТИ РЕАЛИЗАЦИИ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39C9F-35A1-A75D-9EB7-6A316792B5DC}"/>
              </a:ext>
            </a:extLst>
          </p:cNvPr>
          <p:cNvSpPr txBox="1"/>
          <p:nvPr/>
        </p:nvSpPr>
        <p:spPr>
          <a:xfrm>
            <a:off x="204787" y="1151833"/>
            <a:ext cx="52054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Безопасность хранения паролей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</a:pPr>
            <a:r>
              <a:rPr lang="ru-RU" dirty="0" smtClean="0">
                <a:latin typeface="quote-cjk-patch"/>
              </a:rPr>
              <a:t>Хеширование паролей через </a:t>
            </a:r>
            <a:r>
              <a:rPr lang="en-US" b="1" dirty="0">
                <a:latin typeface="quote-cjk-patch"/>
              </a:rPr>
              <a:t>B</a:t>
            </a:r>
            <a:r>
              <a:rPr lang="en-US" b="1" dirty="0" smtClean="0">
                <a:latin typeface="quote-cjk-patch"/>
              </a:rPr>
              <a:t>crypt</a:t>
            </a:r>
            <a:endParaRPr lang="ru-RU" b="1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Работа с изображениями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</a:pPr>
            <a:r>
              <a:rPr lang="ru-RU" dirty="0" smtClean="0">
                <a:latin typeface="quote-cjk-patch"/>
              </a:rPr>
              <a:t>Загрузка изображений на сервер, и их отображение в приложении</a:t>
            </a:r>
          </a:p>
          <a:p>
            <a:pPr algn="l">
              <a:spcBef>
                <a:spcPts val="1200"/>
              </a:spcBef>
            </a:pPr>
            <a:r>
              <a:rPr lang="ru-RU" b="1" dirty="0" smtClean="0">
                <a:latin typeface="quote-cjk-patch"/>
              </a:rPr>
              <a:t>Реализация медиа плеера</a:t>
            </a:r>
          </a:p>
          <a:p>
            <a:pPr algn="l">
              <a:spcBef>
                <a:spcPts val="1200"/>
              </a:spcBef>
            </a:pPr>
            <a:r>
              <a:rPr lang="ru-RU" dirty="0" smtClean="0">
                <a:latin typeface="quote-cjk-patch"/>
              </a:rPr>
              <a:t>Загрузка аудио файлов загруженных на сервер, и их проигрывание в приложении</a:t>
            </a:r>
            <a:r>
              <a:rPr lang="ru-RU" b="1" i="0" dirty="0">
                <a:effectLst/>
                <a:latin typeface="quote-cjk-patch"/>
              </a:rPr>
              <a:t/>
            </a:r>
            <a:br>
              <a:rPr lang="ru-RU" b="1" i="0" dirty="0">
                <a:effectLst/>
                <a:latin typeface="quote-cjk-patch"/>
              </a:rPr>
            </a:br>
            <a:r>
              <a:rPr lang="ru-RU" b="1" i="0" dirty="0">
                <a:effectLst/>
                <a:latin typeface="quote-cjk-patch"/>
              </a:rPr>
              <a:t/>
            </a:r>
            <a:br>
              <a:rPr lang="ru-RU" b="1" i="0" dirty="0">
                <a:effectLst/>
                <a:latin typeface="quote-cjk-patch"/>
              </a:rPr>
            </a:br>
            <a:r>
              <a:rPr lang="ru-RU" b="1" i="0" dirty="0" smtClean="0">
                <a:effectLst/>
                <a:latin typeface="quote-cjk-patch"/>
              </a:rPr>
              <a:t>Навигация </a:t>
            </a:r>
            <a:r>
              <a:rPr lang="ru-RU" b="1" i="0" dirty="0">
                <a:effectLst/>
                <a:latin typeface="quote-cjk-patch"/>
              </a:rPr>
              <a:t>между </a:t>
            </a:r>
            <a:r>
              <a:rPr lang="ru-RU" b="1" i="0" dirty="0" smtClean="0">
                <a:effectLst/>
                <a:latin typeface="quote-cjk-patch"/>
              </a:rPr>
              <a:t>экранами</a:t>
            </a:r>
          </a:p>
          <a:p>
            <a:pPr algn="l">
              <a:spcBef>
                <a:spcPts val="1200"/>
              </a:spcBef>
            </a:pPr>
            <a:r>
              <a:rPr lang="ru-RU" dirty="0" smtClean="0">
                <a:latin typeface="quote-cjk-patch"/>
              </a:rPr>
              <a:t>Реализована удобная навигация через множество экранов, нижнее меню  позволяет объединить основные экраны и удобно перемещаться между ними</a:t>
            </a:r>
            <a:endParaRPr lang="ru-RU" i="0" dirty="0">
              <a:effectLst/>
              <a:latin typeface="quote-cjk-patch"/>
            </a:endParaRPr>
          </a:p>
        </p:txBody>
      </p:sp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075" y="1293812"/>
            <a:ext cx="48768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433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8D48F8A7-96B1-E867-A2F8-21631ED7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49160-5496-98A9-5860-6BCFCA2E7770}"/>
              </a:ext>
            </a:extLst>
          </p:cNvPr>
          <p:cNvSpPr txBox="1"/>
          <p:nvPr/>
        </p:nvSpPr>
        <p:spPr>
          <a:xfrm>
            <a:off x="4786311" y="-32341"/>
            <a:ext cx="6972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ТЕСТИРОВАНИЕ И ОПТИМИЗАЦИЯ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5F5E9-DE87-4D96-111C-9F022E567EAA}"/>
              </a:ext>
            </a:extLst>
          </p:cNvPr>
          <p:cNvSpPr txBox="1"/>
          <p:nvPr/>
        </p:nvSpPr>
        <p:spPr>
          <a:xfrm>
            <a:off x="128587" y="1210429"/>
            <a:ext cx="6096000" cy="529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1" i="0" dirty="0">
                <a:effectLst/>
                <a:latin typeface="quote-cjk-patch"/>
              </a:rPr>
              <a:t>Функциональное тестирование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quote-cjk-patch"/>
              </a:rPr>
              <a:t>Проверка </a:t>
            </a:r>
            <a:r>
              <a:rPr lang="ru-RU" b="0" i="0" dirty="0">
                <a:effectLst/>
                <a:latin typeface="quote-cjk-patch"/>
              </a:rPr>
              <a:t>ролей </a:t>
            </a:r>
            <a:r>
              <a:rPr lang="ru-RU" b="0" i="0" dirty="0" smtClean="0">
                <a:effectLst/>
                <a:latin typeface="quote-cjk-patch"/>
              </a:rPr>
              <a:t>USER/ADMIN</a:t>
            </a:r>
            <a:r>
              <a:rPr lang="en-US" dirty="0" smtClean="0">
                <a:latin typeface="quote-cjk-patch"/>
              </a:rPr>
              <a:t>/MODERATOR/GUEST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 smtClean="0">
                <a:latin typeface="quote-cjk-patch"/>
              </a:rPr>
              <a:t>Тестирование проигрывания аудио файлов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 smtClean="0">
                <a:latin typeface="quote-cjk-patch"/>
              </a:rPr>
              <a:t>Отображение фотографий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UI/UX тестирование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quote-cjk-patch"/>
              </a:rPr>
              <a:t> Удобство </a:t>
            </a:r>
            <a:r>
              <a:rPr lang="ru-RU" b="0" i="0" dirty="0">
                <a:effectLst/>
                <a:latin typeface="quote-cjk-patch"/>
              </a:rPr>
              <a:t>навигации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Читаемость текста</a:t>
            </a:r>
          </a:p>
          <a:p>
            <a:pPr algn="l">
              <a:spcBef>
                <a:spcPts val="1200"/>
              </a:spcBef>
              <a:buNone/>
            </a:pPr>
            <a:r>
              <a:rPr lang="ru-RU" b="1" i="0" dirty="0">
                <a:effectLst/>
                <a:latin typeface="quote-cjk-patch"/>
              </a:rPr>
              <a:t>Тестирование производительности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Время запуска приложения &lt; </a:t>
            </a:r>
            <a:r>
              <a:rPr lang="ru-RU" dirty="0">
                <a:latin typeface="quote-cjk-patch"/>
              </a:rPr>
              <a:t>3</a:t>
            </a:r>
            <a:r>
              <a:rPr lang="ru-RU" b="0" i="0" dirty="0" smtClean="0">
                <a:effectLst/>
                <a:latin typeface="quote-cjk-patch"/>
              </a:rPr>
              <a:t> секунд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quote-cjk-patch"/>
              </a:rPr>
              <a:t> </a:t>
            </a:r>
            <a:r>
              <a:rPr lang="ru-RU" dirty="0" smtClean="0">
                <a:latin typeface="quote-cjk-patch"/>
              </a:rPr>
              <a:t>Нагрузка на устройство минимальная за счет использования сервера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b="1" i="0" dirty="0" smtClean="0">
                <a:effectLst/>
                <a:latin typeface="quote-cjk-patch"/>
              </a:rPr>
              <a:t>Оптимизация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b="0" i="0" dirty="0" smtClean="0">
                <a:effectLst/>
                <a:latin typeface="quote-cjk-patch"/>
              </a:rPr>
              <a:t>Оптимизация </a:t>
            </a:r>
            <a:r>
              <a:rPr lang="ru-RU" b="0" i="0" dirty="0">
                <a:effectLst/>
                <a:latin typeface="quote-cjk-patch"/>
              </a:rPr>
              <a:t>запросов к </a:t>
            </a:r>
            <a:r>
              <a:rPr lang="ru-RU" b="0" i="0" dirty="0" smtClean="0">
                <a:effectLst/>
                <a:latin typeface="quote-cjk-patch"/>
              </a:rPr>
              <a:t>БД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D7857-0F3C-E03A-8EB8-DC0ACCB886C6}"/>
              </a:ext>
            </a:extLst>
          </p:cNvPr>
          <p:cNvSpPr txBox="1"/>
          <p:nvPr/>
        </p:nvSpPr>
        <p:spPr>
          <a:xfrm>
            <a:off x="5967413" y="57193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ru-RU" b="1" i="0" dirty="0">
                <a:effectLst/>
                <a:latin typeface="quote-cjk-patch"/>
              </a:rPr>
              <a:t>Результат</a:t>
            </a:r>
            <a:r>
              <a:rPr lang="ru-RU" b="0" i="0" dirty="0">
                <a:effectLst/>
                <a:latin typeface="quote-cjk-patch"/>
              </a:rPr>
              <a:t>: Приложение стабильно работает на устройствах от </a:t>
            </a:r>
            <a:r>
              <a:rPr lang="ru-RU" b="0" i="0" dirty="0" err="1">
                <a:effectLst/>
                <a:latin typeface="quote-cjk-patch"/>
              </a:rPr>
              <a:t>Android</a:t>
            </a:r>
            <a:r>
              <a:rPr lang="ru-RU" b="0" i="0" dirty="0">
                <a:effectLst/>
                <a:latin typeface="quote-cjk-patch"/>
              </a:rPr>
              <a:t> 7.0, потребляет мало </a:t>
            </a:r>
            <a:r>
              <a:rPr lang="ru-RU" b="0" i="0" dirty="0" smtClean="0">
                <a:effectLst/>
                <a:latin typeface="quote-cjk-patch"/>
              </a:rPr>
              <a:t>памяти</a:t>
            </a:r>
            <a:r>
              <a:rPr lang="ru-RU" dirty="0">
                <a:latin typeface="quote-cjk-patch"/>
              </a:rPr>
              <a:t>.</a:t>
            </a:r>
            <a:endParaRPr lang="ru-RU" b="0" i="0" dirty="0">
              <a:effectLst/>
              <a:latin typeface="quote-cjk-patch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1350116"/>
            <a:ext cx="4064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060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21E8B62C-D0E9-EAD6-047B-C484D88D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EA2B75-4112-5D7A-B61F-AFDFE6C8FDA5}"/>
              </a:ext>
            </a:extLst>
          </p:cNvPr>
          <p:cNvSpPr txBox="1"/>
          <p:nvPr/>
        </p:nvSpPr>
        <p:spPr>
          <a:xfrm>
            <a:off x="5153025" y="367503"/>
            <a:ext cx="4681538" cy="416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ВОПРОСЫ И ОТВЕТЫ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95D19-080F-C513-4911-3123344FC0CD}"/>
              </a:ext>
            </a:extLst>
          </p:cNvPr>
          <p:cNvSpPr txBox="1"/>
          <p:nvPr/>
        </p:nvSpPr>
        <p:spPr>
          <a:xfrm>
            <a:off x="171450" y="1146222"/>
            <a:ext cx="60960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i="0" dirty="0">
                <a:effectLst/>
                <a:latin typeface="quote-cjk-patch"/>
              </a:rPr>
              <a:t>Как обеспечивается безопасность паролей?</a:t>
            </a:r>
            <a:r>
              <a:rPr lang="ru-RU" b="0" i="0" dirty="0">
                <a:effectLst/>
                <a:latin typeface="quote-cjk-patch"/>
              </a:rPr>
              <a:t/>
            </a:r>
            <a:br>
              <a:rPr lang="ru-RU" b="0" i="0" dirty="0">
                <a:effectLst/>
                <a:latin typeface="quote-cjk-patch"/>
              </a:rPr>
            </a:br>
            <a:r>
              <a:rPr lang="ru-RU" b="0" i="0" dirty="0">
                <a:effectLst/>
                <a:latin typeface="quote-cjk-patch"/>
              </a:rPr>
              <a:t>- Используется </a:t>
            </a:r>
            <a:r>
              <a:rPr lang="en-US" b="1" dirty="0">
                <a:latin typeface="quote-cjk-patch"/>
              </a:rPr>
              <a:t>B</a:t>
            </a:r>
            <a:r>
              <a:rPr lang="en-US" b="1" dirty="0" smtClean="0">
                <a:latin typeface="quote-cjk-patch"/>
              </a:rPr>
              <a:t>crypt</a:t>
            </a:r>
            <a:r>
              <a:rPr lang="ru-RU" b="0" i="0" dirty="0" smtClean="0">
                <a:effectLst/>
                <a:latin typeface="quote-cjk-patch"/>
              </a:rPr>
              <a:t> </a:t>
            </a:r>
            <a:r>
              <a:rPr lang="ru-RU" b="0" i="0" dirty="0">
                <a:effectLst/>
                <a:latin typeface="quote-cjk-patch"/>
              </a:rPr>
              <a:t>хеширование. </a:t>
            </a:r>
            <a:endParaRPr lang="en-US" b="0" i="0" dirty="0" smtClean="0">
              <a:effectLst/>
              <a:latin typeface="quote-cjk-patch"/>
            </a:endParaRPr>
          </a:p>
          <a:p>
            <a:pPr>
              <a:lnSpc>
                <a:spcPct val="150000"/>
              </a:lnSpc>
              <a:buNone/>
            </a:pPr>
            <a:r>
              <a:rPr lang="ru-RU" b="1" i="0" dirty="0" smtClean="0">
                <a:effectLst/>
                <a:latin typeface="quote-cjk-patch"/>
              </a:rPr>
              <a:t>Можно </a:t>
            </a:r>
            <a:r>
              <a:rPr lang="ru-RU" b="1" i="0" dirty="0">
                <a:effectLst/>
                <a:latin typeface="quote-cjk-patch"/>
              </a:rPr>
              <a:t>ли синхронизировать данные между устройствами?</a:t>
            </a:r>
            <a:r>
              <a:rPr lang="ru-RU" b="0" i="0" dirty="0">
                <a:effectLst/>
                <a:latin typeface="quote-cjk-patch"/>
              </a:rPr>
              <a:t/>
            </a:r>
            <a:br>
              <a:rPr lang="ru-RU" b="0" i="0" dirty="0">
                <a:effectLst/>
                <a:latin typeface="quote-cjk-patch"/>
              </a:rPr>
            </a:br>
            <a:r>
              <a:rPr lang="ru-RU" dirty="0" smtClean="0">
                <a:latin typeface="quote-cjk-patch"/>
              </a:rPr>
              <a:t>- </a:t>
            </a:r>
            <a:r>
              <a:rPr lang="ru-RU" dirty="0" smtClean="0">
                <a:latin typeface="quote-cjk-patch"/>
              </a:rPr>
              <a:t>Да, используется </a:t>
            </a:r>
            <a:r>
              <a:rPr lang="en-US" dirty="0" smtClean="0">
                <a:latin typeface="quote-cjk-patch"/>
              </a:rPr>
              <a:t>MySQL </a:t>
            </a:r>
            <a:r>
              <a:rPr lang="ru-RU" dirty="0" smtClean="0">
                <a:latin typeface="quote-cjk-patch"/>
              </a:rPr>
              <a:t>сервер, который позволяет синхронизировать данные системы на разных устройствах</a:t>
            </a:r>
            <a:r>
              <a:rPr lang="ru-RU" b="0" i="0" dirty="0">
                <a:effectLst/>
                <a:latin typeface="quote-cjk-patch"/>
              </a:rPr>
              <a:t/>
            </a:r>
            <a:br>
              <a:rPr lang="ru-RU" b="0" i="0" dirty="0">
                <a:effectLst/>
                <a:latin typeface="quote-cjk-patch"/>
              </a:rPr>
            </a:br>
            <a:r>
              <a:rPr lang="ru-RU" b="1" i="0" dirty="0">
                <a:effectLst/>
                <a:latin typeface="quote-cjk-patch"/>
              </a:rPr>
              <a:t>Какие были самые сложные моменты в разработке?</a:t>
            </a:r>
            <a:r>
              <a:rPr lang="ru-RU" b="0" i="0" dirty="0">
                <a:effectLst/>
                <a:latin typeface="quote-cjk-patch"/>
              </a:rPr>
              <a:t/>
            </a:r>
            <a:br>
              <a:rPr lang="ru-RU" b="0" i="0" dirty="0">
                <a:effectLst/>
                <a:latin typeface="quote-cjk-patch"/>
              </a:rPr>
            </a:br>
            <a:r>
              <a:rPr lang="ru-RU" dirty="0">
                <a:latin typeface="quote-cjk-patch"/>
              </a:rPr>
              <a:t>- </a:t>
            </a:r>
            <a:r>
              <a:rPr lang="ru-RU" b="0" i="0" dirty="0">
                <a:effectLst/>
                <a:latin typeface="quote-cjk-patch"/>
              </a:rPr>
              <a:t>Реализация </a:t>
            </a:r>
            <a:r>
              <a:rPr lang="ru-RU" b="0" i="0" dirty="0" smtClean="0">
                <a:effectLst/>
                <a:latin typeface="quote-cjk-patch"/>
              </a:rPr>
              <a:t>системы</a:t>
            </a:r>
            <a:r>
              <a:rPr lang="en-US" dirty="0">
                <a:latin typeface="quote-cjk-patch"/>
              </a:rPr>
              <a:t> </a:t>
            </a:r>
            <a:r>
              <a:rPr lang="ru-RU" dirty="0" smtClean="0">
                <a:latin typeface="quote-cjk-patch"/>
              </a:rPr>
              <a:t>проигрывания треков</a:t>
            </a:r>
          </a:p>
          <a:p>
            <a:pPr>
              <a:lnSpc>
                <a:spcPct val="150000"/>
              </a:lnSpc>
              <a:buNone/>
            </a:pPr>
            <a:r>
              <a:rPr lang="ru-RU" b="0" i="0" dirty="0" smtClean="0">
                <a:effectLst/>
                <a:latin typeface="quote-cjk-patch"/>
              </a:rPr>
              <a:t>- Разработка функционала администратора</a:t>
            </a:r>
            <a:r>
              <a:rPr lang="ru-RU" b="0" i="0" dirty="0">
                <a:effectLst/>
                <a:latin typeface="quote-cjk-patch"/>
              </a:rPr>
              <a:t/>
            </a:r>
            <a:br>
              <a:rPr lang="ru-RU" b="0" i="0" dirty="0">
                <a:effectLst/>
                <a:latin typeface="quote-cjk-patch"/>
              </a:rPr>
            </a:br>
            <a:r>
              <a:rPr lang="ru-RU" dirty="0">
                <a:latin typeface="quote-cjk-patch"/>
              </a:rPr>
              <a:t>- Большой объем</a:t>
            </a:r>
            <a:r>
              <a:rPr lang="ru-RU" b="0" i="0" dirty="0">
                <a:effectLst/>
                <a:latin typeface="quote-cjk-patch"/>
              </a:rPr>
              <a:t> БД</a:t>
            </a:r>
            <a:br>
              <a:rPr lang="ru-RU" b="0" i="0" dirty="0">
                <a:effectLst/>
                <a:latin typeface="quote-cjk-patch"/>
              </a:rPr>
            </a:br>
            <a:r>
              <a:rPr lang="ru-RU" dirty="0">
                <a:latin typeface="quote-cjk-patch"/>
              </a:rPr>
              <a:t>- </a:t>
            </a:r>
            <a:r>
              <a:rPr lang="ru-RU" b="0" i="0" dirty="0">
                <a:effectLst/>
                <a:latin typeface="quote-cjk-patch"/>
              </a:rPr>
              <a:t>Навигация между множеством экранов</a:t>
            </a:r>
            <a:r>
              <a:rPr lang="ru-RU" b="0" i="0" dirty="0" smtClean="0">
                <a:effectLst/>
                <a:latin typeface="quote-cjk-patch"/>
              </a:rPr>
              <a:t>.</a:t>
            </a:r>
            <a:endParaRPr lang="ru-RU" dirty="0">
              <a:latin typeface="quote-cjk-patch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997" y="1352550"/>
            <a:ext cx="4773614" cy="477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545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GroupShape 88">
          <a:extLst>
            <a:ext uri="{FF2B5EF4-FFF2-40B4-BE49-F238E27FC236}">
              <a16:creationId xmlns:a16="http://schemas.microsoft.com/office/drawing/2014/main" id="{C83E8667-0446-A4A3-AB22-B84F3F7B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BE834C-EA6B-411D-6BAD-50FB689931FC}"/>
              </a:ext>
            </a:extLst>
          </p:cNvPr>
          <p:cNvSpPr txBox="1"/>
          <p:nvPr/>
        </p:nvSpPr>
        <p:spPr>
          <a:xfrm>
            <a:off x="5172076" y="265385"/>
            <a:ext cx="4748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200" b="1" dirty="0">
                <a:solidFill>
                  <a:srgbClr val="F9FAFB"/>
                </a:solidFill>
                <a:effectLst/>
                <a:latin typeface="quote-cjk-patch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5539D-9131-F500-C5DC-1C8E34D63000}"/>
              </a:ext>
            </a:extLst>
          </p:cNvPr>
          <p:cNvSpPr txBox="1"/>
          <p:nvPr/>
        </p:nvSpPr>
        <p:spPr>
          <a:xfrm>
            <a:off x="114300" y="1508641"/>
            <a:ext cx="3871913" cy="351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 </a:t>
            </a:r>
            <a:r>
              <a:rPr lang="ru-RU" b="0" i="0" dirty="0" smtClean="0">
                <a:effectLst/>
                <a:latin typeface="quote-cjk-patch"/>
              </a:rPr>
              <a:t> </a:t>
            </a:r>
            <a:r>
              <a:rPr lang="ru-RU" b="1" i="0" dirty="0" smtClean="0">
                <a:effectLst/>
                <a:latin typeface="quote-cjk-patch"/>
              </a:rPr>
              <a:t>Технически грамотное</a:t>
            </a:r>
            <a:r>
              <a:rPr lang="ru-RU" b="0" i="0" dirty="0" smtClean="0">
                <a:effectLst/>
                <a:latin typeface="quote-cjk-patch"/>
              </a:rPr>
              <a:t> приложение с современным стеком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 </a:t>
            </a:r>
            <a:r>
              <a:rPr lang="ru-RU" b="1" i="0" dirty="0">
                <a:effectLst/>
                <a:latin typeface="quote-cjk-patch"/>
              </a:rPr>
              <a:t>Масштабируемая платформа</a:t>
            </a:r>
            <a:r>
              <a:rPr lang="ru-RU" b="0" i="0" dirty="0">
                <a:effectLst/>
                <a:latin typeface="quote-cjk-patch"/>
              </a:rPr>
              <a:t> с потенциалом роста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 </a:t>
            </a:r>
            <a:r>
              <a:rPr lang="ru-RU" b="1" i="0" dirty="0">
                <a:effectLst/>
                <a:latin typeface="quote-cjk-patch"/>
              </a:rPr>
              <a:t>Учебный проект</a:t>
            </a:r>
            <a:r>
              <a:rPr lang="ru-RU" b="0" i="0" dirty="0">
                <a:effectLst/>
                <a:latin typeface="quote-cjk-patch"/>
              </a:rPr>
              <a:t>, который стал реальным </a:t>
            </a:r>
            <a:r>
              <a:rPr lang="ru-RU" b="0" i="0" dirty="0" smtClean="0">
                <a:effectLst/>
                <a:latin typeface="quote-cjk-patch"/>
              </a:rPr>
              <a:t>продуктом</a:t>
            </a:r>
            <a:endParaRPr lang="en-US" b="0" i="0" dirty="0" smtClean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1" dirty="0" smtClean="0">
                <a:latin typeface="quote-cjk-patch"/>
              </a:rPr>
              <a:t>Музыкальная платформа </a:t>
            </a:r>
            <a:r>
              <a:rPr lang="ru-RU" dirty="0" smtClean="0">
                <a:latin typeface="quote-cjk-patch"/>
              </a:rPr>
              <a:t>для </a:t>
            </a:r>
            <a:r>
              <a:rPr lang="ru-RU" dirty="0" smtClean="0">
                <a:latin typeface="quote-cjk-patch"/>
              </a:rPr>
              <a:t>музыкантов и обычных слушателей</a:t>
            </a:r>
            <a:endParaRPr lang="ru-RU" dirty="0" smtClean="0"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2FF3D-B6B2-BEA0-3183-0BB5A5F21DD4}"/>
              </a:ext>
            </a:extLst>
          </p:cNvPr>
          <p:cNvSpPr txBox="1"/>
          <p:nvPr/>
        </p:nvSpPr>
        <p:spPr>
          <a:xfrm>
            <a:off x="7667625" y="1253290"/>
            <a:ext cx="4110038" cy="2557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b="1" i="0" dirty="0">
                <a:effectLst/>
                <a:latin typeface="quote-cjk-patch"/>
              </a:rPr>
              <a:t>Приложение </a:t>
            </a:r>
            <a:r>
              <a:rPr lang="ru-RU" b="1" i="0" dirty="0" smtClean="0">
                <a:effectLst/>
                <a:latin typeface="quote-cjk-patch"/>
              </a:rPr>
              <a:t>может </a:t>
            </a:r>
            <a:r>
              <a:rPr lang="ru-RU" b="1" i="0" dirty="0">
                <a:effectLst/>
                <a:latin typeface="quote-cjk-patch"/>
              </a:rPr>
              <a:t>быть полезно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</a:t>
            </a:r>
            <a:r>
              <a:rPr lang="ru-RU" b="1" dirty="0" smtClean="0">
                <a:latin typeface="quote-cjk-patch"/>
              </a:rPr>
              <a:t>Музыкантам </a:t>
            </a:r>
            <a:r>
              <a:rPr lang="ru-RU" dirty="0" smtClean="0">
                <a:latin typeface="quote-cjk-patch"/>
              </a:rPr>
              <a:t>желающим продвигать свое творчество, найти новую аудиторию и партнеров.</a:t>
            </a:r>
            <a:endParaRPr lang="ru-RU" b="0" i="0" dirty="0"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quote-cjk-patch"/>
              </a:rPr>
              <a:t> </a:t>
            </a:r>
            <a:r>
              <a:rPr lang="ru-RU" b="1" dirty="0" smtClean="0">
                <a:latin typeface="quote-cjk-patch"/>
              </a:rPr>
              <a:t>Простым слушателям</a:t>
            </a:r>
            <a:r>
              <a:rPr lang="ru-RU" dirty="0" smtClean="0">
                <a:latin typeface="quote-cjk-patch"/>
              </a:rPr>
              <a:t>, которые хотят слушать музыку и обсуждать ее с другими.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D3154-783D-3DCD-B8DD-48316410E2AD}"/>
              </a:ext>
            </a:extLst>
          </p:cNvPr>
          <p:cNvSpPr txBox="1"/>
          <p:nvPr/>
        </p:nvSpPr>
        <p:spPr>
          <a:xfrm>
            <a:off x="371475" y="1104301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dirty="0" smtClean="0">
                <a:latin typeface="quote-cjk-patch"/>
              </a:rPr>
              <a:t>FlerkthSound</a:t>
            </a:r>
            <a:r>
              <a:rPr lang="ru-RU" b="1" i="0" dirty="0" smtClean="0">
                <a:effectLst/>
                <a:latin typeface="quote-cjk-patch"/>
              </a:rPr>
              <a:t> </a:t>
            </a:r>
            <a:r>
              <a:rPr lang="ru-RU" i="0" dirty="0">
                <a:effectLst/>
                <a:latin typeface="quote-cjk-patch"/>
              </a:rPr>
              <a:t>- это</a:t>
            </a:r>
            <a:r>
              <a:rPr lang="ru-RU" b="0" i="0" dirty="0">
                <a:effectLst/>
                <a:latin typeface="quote-cjk-patch"/>
              </a:rPr>
              <a:t>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6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79174" y="-113997"/>
            <a:ext cx="1158875" cy="1158875"/>
          </a:xfrm>
          <a:prstGeom prst="rect">
            <a:avLst/>
          </a:prstGeom>
          <a:noFill/>
          <a:effectLst>
            <a:softEdge rad="0"/>
          </a:effectLst>
        </p:spPr>
      </p:pic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881086"/>
            <a:ext cx="6124574" cy="288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851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612</TotalTime>
  <Words>271</Words>
  <Application>Microsoft Office PowerPoint</Application>
  <DocSecurity>0</DocSecurity>
  <PresentationFormat>Широкоэкранный</PresentationFormat>
  <Paragraphs>101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Мауль</dc:creator>
  <cp:lastModifiedBy>Student</cp:lastModifiedBy>
  <cp:revision>63</cp:revision>
  <dcterms:modified xsi:type="dcterms:W3CDTF">2025-12-20T11:22:49Z</dcterms:modified>
</cp:coreProperties>
</file>